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  <p:embeddedFont>
      <p:font typeface="Helvetica Neue Light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18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HelveticaNeue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lveticaNeueLight-bold.fntdata"/><Relationship Id="rId30" Type="http://schemas.openxmlformats.org/officeDocument/2006/relationships/font" Target="fonts/HelveticaNeueLight-regular.fntdata"/><Relationship Id="rId11" Type="http://schemas.openxmlformats.org/officeDocument/2006/relationships/slide" Target="slides/slide4.xml"/><Relationship Id="rId33" Type="http://schemas.openxmlformats.org/officeDocument/2006/relationships/font" Target="fonts/HelveticaNeueLight-boldItalic.fntdata"/><Relationship Id="rId10" Type="http://schemas.openxmlformats.org/officeDocument/2006/relationships/slide" Target="slides/slide3.xml"/><Relationship Id="rId32" Type="http://schemas.openxmlformats.org/officeDocument/2006/relationships/font" Target="fonts/HelveticaNeueLight-italic.fntdata"/><Relationship Id="rId13" Type="http://schemas.openxmlformats.org/officeDocument/2006/relationships/slide" Target="slides/slide6.xml"/><Relationship Id="rId35" Type="http://schemas.openxmlformats.org/officeDocument/2006/relationships/font" Target="fonts/RobotoMono-bold.fntdata"/><Relationship Id="rId12" Type="http://schemas.openxmlformats.org/officeDocument/2006/relationships/slide" Target="slides/slide5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8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e0582ab4c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de0582ab4c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e0582ab4c_2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e0582ab4c_2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de0582ab4c_2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e0582ab4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de0582ab4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de0582ab4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e0582ab4c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e0582ab4c_2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de0582ab4c_2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e0582ab4c_2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de0582ab4c_2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de0582ab4c_2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e0582ab4c_2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de0582ab4c_2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de0582ab4c_2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e0582ab4c_2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de0582ab4c_2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de0582ab4c_2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e0582ab4c_2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de0582ab4c_2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de0582ab4c_2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e0582ab4c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de0582ab4c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de0582ab4c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e0582ab4c_6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de0582ab4c_6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3de0582ab4c_6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e089581ec_1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de089581ec_1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de089581ec_1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1e45969e9a7f119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1e45969e9a7f119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e089581ec_1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de089581ec_1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de089581ec_1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e089581ec_1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de089581ec_1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de089581ec_1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e0582ab4c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de0582ab4c_2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de0582ab4c_2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e089581ec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de089581ec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de089581ec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e089581ec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e089581ec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e0582ab4c_2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de0582ab4c_2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de0582ab4c_2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633113" y="3532668"/>
            <a:ext cx="7886701" cy="414028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44848"/>
              </a:buClr>
              <a:buSzPts val="1500"/>
              <a:buFont typeface="Helvetica Neue Light"/>
              <a:buNone/>
              <a:defRPr b="0" i="0" sz="15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42109" l="31991" r="32034" t="42025"/>
          <a:stretch/>
        </p:blipFill>
        <p:spPr>
          <a:xfrm>
            <a:off x="5573211" y="563639"/>
            <a:ext cx="2946602" cy="99992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633113" y="2838745"/>
            <a:ext cx="78870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Helvetica Neue"/>
              <a:buNone/>
              <a:defRPr b="1" i="0" sz="3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45727" y="20002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36820" y="1326713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5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185">
          <p15:clr>
            <a:srgbClr val="FBAE40"/>
          </p15:clr>
        </p15:guide>
        <p15:guide id="4" orient="horz" pos="123">
          <p15:clr>
            <a:srgbClr val="FBAE40"/>
          </p15:clr>
        </p15:guide>
        <p15:guide id="5" orient="horz" pos="752">
          <p15:clr>
            <a:srgbClr val="FBAE40"/>
          </p15:clr>
        </p15:guide>
        <p15:guide id="6" pos="91">
          <p15:clr>
            <a:srgbClr val="FBAE40"/>
          </p15:clr>
        </p15:guide>
        <p15:guide id="7" pos="277">
          <p15:clr>
            <a:srgbClr val="FBAE40"/>
          </p15:clr>
        </p15:guide>
        <p15:guide id="8" orient="horz" pos="838">
          <p15:clr>
            <a:srgbClr val="FBAE40"/>
          </p15:clr>
        </p15:guide>
        <p15:guide id="9" pos="5244">
          <p15:clr>
            <a:srgbClr val="FBAE40"/>
          </p15:clr>
        </p15:guide>
        <p15:guide id="10" orient="horz" pos="2896">
          <p15:clr>
            <a:srgbClr val="FBAE40"/>
          </p15:clr>
        </p15:guide>
        <p15:guide id="11" pos="5669">
          <p15:clr>
            <a:srgbClr val="FBAE40"/>
          </p15:clr>
        </p15:guide>
        <p15:guide id="12" orient="horz" pos="2981">
          <p15:clr>
            <a:srgbClr val="FBAE40"/>
          </p15:clr>
        </p15:guide>
        <p15:guide id="13" orient="horz" pos="3151">
          <p15:clr>
            <a:srgbClr val="FBAE40"/>
          </p15:clr>
        </p15:guide>
        <p15:guide id="14" orient="horz" pos="308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73" name="Google Shape;73;p1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Helvetica Neue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Helvetica Neue Light"/>
              <a:buNone/>
              <a:defRPr b="0" i="0" sz="15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Helvetica Neue Light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Helvetica Neue Light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 Light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 Light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 Light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 Light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 Light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 Light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 Light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3" name="Google Shape;113;p2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18" name="Google Shape;118;p23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24" name="Google Shape;124;p24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5" name="Google Shape;125;p2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269110" y="4529211"/>
            <a:ext cx="1024359" cy="449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/>
          <p:nvPr>
            <p:ph idx="2" type="pic"/>
          </p:nvPr>
        </p:nvSpPr>
        <p:spPr>
          <a:xfrm>
            <a:off x="4159454" y="1139475"/>
            <a:ext cx="2317950" cy="231795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380587" y="248550"/>
            <a:ext cx="6096825" cy="59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80592" y="1139476"/>
            <a:ext cx="3586725" cy="231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633113" y="3532668"/>
            <a:ext cx="7886700" cy="414000"/>
          </a:xfrm>
          <a:prstGeom prst="rect">
            <a:avLst/>
          </a:prstGeom>
          <a:noFill/>
          <a:ln cap="flat" cmpd="sng" w="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44848"/>
              </a:buClr>
              <a:buSzPts val="1500"/>
              <a:buFont typeface="Helvetica Neue Light"/>
              <a:buNone/>
              <a:defRPr b="0" i="0" sz="15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41" name="Google Shape;141;p27"/>
          <p:cNvPicPr preferRelativeResize="0"/>
          <p:nvPr/>
        </p:nvPicPr>
        <p:blipFill rotWithShape="1">
          <a:blip r:embed="rId2">
            <a:alphaModFix/>
          </a:blip>
          <a:srcRect b="42110" l="31993" r="32032" t="42024"/>
          <a:stretch/>
        </p:blipFill>
        <p:spPr>
          <a:xfrm>
            <a:off x="5573211" y="563639"/>
            <a:ext cx="2946600" cy="99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633113" y="2838745"/>
            <a:ext cx="78870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Helvetica Neue"/>
              <a:buNone/>
              <a:defRPr b="1" i="0" sz="33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445727" y="20002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436820" y="132671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47" name="Google Shape;147;p28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5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3185">
          <p15:clr>
            <a:srgbClr val="FBAE40"/>
          </p15:clr>
        </p15:guide>
        <p15:guide id="4" orient="horz" pos="123">
          <p15:clr>
            <a:srgbClr val="FBAE40"/>
          </p15:clr>
        </p15:guide>
        <p15:guide id="5" orient="horz" pos="752">
          <p15:clr>
            <a:srgbClr val="FBAE40"/>
          </p15:clr>
        </p15:guide>
        <p15:guide id="6" pos="91">
          <p15:clr>
            <a:srgbClr val="FBAE40"/>
          </p15:clr>
        </p15:guide>
        <p15:guide id="7" pos="277">
          <p15:clr>
            <a:srgbClr val="FBAE40"/>
          </p15:clr>
        </p15:guide>
        <p15:guide id="8" orient="horz" pos="838">
          <p15:clr>
            <a:srgbClr val="FBAE40"/>
          </p15:clr>
        </p15:guide>
        <p15:guide id="9" pos="5244">
          <p15:clr>
            <a:srgbClr val="FBAE40"/>
          </p15:clr>
        </p15:guide>
        <p15:guide id="10" orient="horz" pos="2896">
          <p15:clr>
            <a:srgbClr val="FBAE40"/>
          </p15:clr>
        </p15:guide>
        <p15:guide id="11" pos="5669">
          <p15:clr>
            <a:srgbClr val="FBAE40"/>
          </p15:clr>
        </p15:guide>
        <p15:guide id="12" orient="horz" pos="2981">
          <p15:clr>
            <a:srgbClr val="FBAE40"/>
          </p15:clr>
        </p15:guide>
        <p15:guide id="13" orient="horz" pos="3151">
          <p15:clr>
            <a:srgbClr val="FBAE40"/>
          </p15:clr>
        </p15:guide>
        <p15:guide id="14" orient="horz" pos="30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52" name="Google Shape;152;p29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53" name="Google Shape;153;p29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Helvetica Neue"/>
              <a:buNone/>
              <a:defRPr sz="27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Helvetica Neue Light"/>
              <a:buNone/>
              <a:defRPr b="0" i="0" sz="15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Helvetica Neue Light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Helvetica Neue Light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 Light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 Light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58" name="Google Shape;158;p30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59" name="Google Shape;159;p30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65" name="Google Shape;165;p31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66" name="Google Shape;166;p31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0" name="Google Shape;170;p3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72" name="Google Shape;172;p3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74" name="Google Shape;174;p32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75" name="Google Shape;175;p32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79" name="Google Shape;179;p33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 Light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83" name="Google Shape;183;p34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 Light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 Light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4" name="Google Shape;184;p34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86" name="Google Shape;186;p34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 Light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 Light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1" name="Google Shape;191;p35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92" name="Google Shape;192;p35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93" name="Google Shape;193;p35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98" name="Google Shape;198;p36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99" name="Google Shape;199;p36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204" name="Google Shape;204;p37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05" name="Google Shape;205;p37"/>
          <p:cNvPicPr preferRelativeResize="0"/>
          <p:nvPr/>
        </p:nvPicPr>
        <p:blipFill rotWithShape="1">
          <a:blip r:embed="rId2">
            <a:alphaModFix/>
          </a:blip>
          <a:srcRect b="38398" l="29653" r="29481" t="38311"/>
          <a:stretch/>
        </p:blipFill>
        <p:spPr>
          <a:xfrm>
            <a:off x="269110" y="4529211"/>
            <a:ext cx="1024363" cy="449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>
            <p:ph idx="2" type="pic"/>
          </p:nvPr>
        </p:nvSpPr>
        <p:spPr>
          <a:xfrm>
            <a:off x="4159454" y="1139475"/>
            <a:ext cx="2318100" cy="23181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38"/>
          <p:cNvSpPr txBox="1"/>
          <p:nvPr>
            <p:ph type="title"/>
          </p:nvPr>
        </p:nvSpPr>
        <p:spPr>
          <a:xfrm>
            <a:off x="380587" y="248550"/>
            <a:ext cx="6096900" cy="59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1" type="body"/>
          </p:nvPr>
        </p:nvSpPr>
        <p:spPr>
          <a:xfrm>
            <a:off x="380592" y="1139476"/>
            <a:ext cx="3586800" cy="23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b="1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 Light"/>
              <a:buChar char="•"/>
              <a:defRPr b="0" i="0" sz="2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b="0" i="0" sz="15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53" name="Google Shape;53;p13"/>
          <p:cNvGrpSpPr/>
          <p:nvPr/>
        </p:nvGrpSpPr>
        <p:grpSpPr>
          <a:xfrm>
            <a:off x="0" y="5067300"/>
            <a:ext cx="9144000" cy="79122"/>
            <a:chOff x="0" y="6756400"/>
            <a:chExt cx="12192000" cy="105496"/>
          </a:xfrm>
        </p:grpSpPr>
        <p:pic>
          <p:nvPicPr>
            <p:cNvPr id="54" name="Google Shape;54;p13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3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3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102009" y="4713506"/>
            <a:ext cx="413341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5943600" y="4713506"/>
            <a:ext cx="2158408" cy="2830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b="1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 Light"/>
              <a:buChar char="•"/>
              <a:defRPr b="0" i="0" sz="21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•"/>
              <a:defRPr b="0" i="0" sz="15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•"/>
              <a:defRPr b="0" i="0" sz="1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33" name="Google Shape;133;p26"/>
          <p:cNvGrpSpPr/>
          <p:nvPr/>
        </p:nvGrpSpPr>
        <p:grpSpPr>
          <a:xfrm>
            <a:off x="0" y="5067300"/>
            <a:ext cx="9144001" cy="79122"/>
            <a:chOff x="0" y="6756400"/>
            <a:chExt cx="12192002" cy="105496"/>
          </a:xfrm>
        </p:grpSpPr>
        <p:pic>
          <p:nvPicPr>
            <p:cNvPr id="134" name="Google Shape;134;p26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26"/>
            <p:cNvPicPr preferRelativeResize="0"/>
            <p:nvPr/>
          </p:nvPicPr>
          <p:blipFill rotWithShape="1">
            <a:blip r:embed="rId1">
              <a:alphaModFix/>
            </a:blip>
            <a:srcRect b="15583" l="0" r="71580" t="0"/>
            <a:stretch/>
          </p:blipFill>
          <p:spPr>
            <a:xfrm>
              <a:off x="0" y="6756400"/>
              <a:ext cx="2598719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6"/>
            <p:cNvPicPr preferRelativeResize="0"/>
            <p:nvPr/>
          </p:nvPicPr>
          <p:blipFill rotWithShape="1">
            <a:blip r:embed="rId1">
              <a:alphaModFix/>
            </a:blip>
            <a:srcRect b="15583" l="0" r="71580" t="0"/>
            <a:stretch/>
          </p:blipFill>
          <p:spPr>
            <a:xfrm>
              <a:off x="9593283" y="6756400"/>
              <a:ext cx="2598719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138" name="Google Shape;138;p26"/>
          <p:cNvSpPr txBox="1"/>
          <p:nvPr>
            <p:ph idx="10" type="dt"/>
          </p:nvPr>
        </p:nvSpPr>
        <p:spPr>
          <a:xfrm>
            <a:off x="5943600" y="4713506"/>
            <a:ext cx="2158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hyperlink" Target="https://doi.org/10.1109/JSAC.2025.3531522" TargetMode="Externa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i.org/10.1109/TVT.2025.3648447" TargetMode="External"/><Relationship Id="rId4" Type="http://schemas.openxmlformats.org/officeDocument/2006/relationships/hyperlink" Target="https://doi.org/10.1109/TVT.2025.3648447" TargetMode="External"/><Relationship Id="rId9" Type="http://schemas.openxmlformats.org/officeDocument/2006/relationships/hyperlink" Target="https://doi.org/10.1109/JSAC.2025.3531522" TargetMode="External"/><Relationship Id="rId5" Type="http://schemas.openxmlformats.org/officeDocument/2006/relationships/hyperlink" Target="https://doi.org/10.1109/JSAC.2023.3240718" TargetMode="External"/><Relationship Id="rId6" Type="http://schemas.openxmlformats.org/officeDocument/2006/relationships/hyperlink" Target="https://doi.org/10.1109/JSAC.2023.3240718" TargetMode="External"/><Relationship Id="rId7" Type="http://schemas.openxmlformats.org/officeDocument/2006/relationships/hyperlink" Target="https://doi.org/10.1109/TVT.2024.3465897" TargetMode="External"/><Relationship Id="rId8" Type="http://schemas.openxmlformats.org/officeDocument/2006/relationships/hyperlink" Target="https://doi.org/10.1109/TVT.2024.3465897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/>
        </p:nvSpPr>
        <p:spPr>
          <a:xfrm>
            <a:off x="217975" y="172625"/>
            <a:ext cx="5339400" cy="1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Active-RIS-Assisted RSMA–ISAC Under Imperfect CSI </a:t>
            </a:r>
            <a:endParaRPr b="1" i="0" sz="26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27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2700" u="sng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9"/>
          <p:cNvSpPr txBox="1"/>
          <p:nvPr/>
        </p:nvSpPr>
        <p:spPr>
          <a:xfrm>
            <a:off x="290569" y="2213888"/>
            <a:ext cx="42243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Members:</a:t>
            </a:r>
            <a:endParaRPr b="1" i="0" sz="19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Rukshanshi Patel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Darshi Jain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Devshree Patel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Krishna Patel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Payal Mishra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/>
        </p:nvSpPr>
        <p:spPr>
          <a:xfrm>
            <a:off x="355208" y="260250"/>
            <a:ext cx="7806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650" lIns="69300" spcFirstLastPara="1" rIns="69300" wrap="square" tIns="346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33">
                <a:latin typeface="Helvetica Neue"/>
                <a:ea typeface="Helvetica Neue"/>
                <a:cs typeface="Helvetica Neue"/>
                <a:sym typeface="Helvetica Neue"/>
              </a:rPr>
              <a:t>Research Objectives</a:t>
            </a:r>
            <a:endParaRPr b="1" sz="3033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33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40"/>
          <p:cNvSpPr txBox="1"/>
          <p:nvPr/>
        </p:nvSpPr>
        <p:spPr>
          <a:xfrm>
            <a:off x="192100" y="1158125"/>
            <a:ext cx="6587700" cy="3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650" lIns="69300" spcFirstLastPara="1" rIns="69300" wrap="square" tIns="34650">
            <a:noAutofit/>
          </a:bodyPr>
          <a:lstStyle/>
          <a:p>
            <a:pPr indent="-270921" lvl="0" marL="346617" rtl="0" algn="l">
              <a:lnSpc>
                <a:spcPct val="200000"/>
              </a:lnSpc>
              <a:spcBef>
                <a:spcPts val="758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Char char="•"/>
            </a:pPr>
            <a:r>
              <a:rPr lang="en" sz="1537"/>
              <a:t>Formulate the active-RIS-assisted RSMA–ISAC system.</a:t>
            </a:r>
            <a:endParaRPr sz="1537"/>
          </a:p>
          <a:p>
            <a:pPr indent="-270921" lvl="0" marL="346617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Char char="•"/>
            </a:pPr>
            <a:r>
              <a:rPr lang="en" sz="1537"/>
              <a:t>Implement the main communication and sensing models.</a:t>
            </a:r>
            <a:endParaRPr sz="1537"/>
          </a:p>
          <a:p>
            <a:pPr indent="-270921" lvl="0" marL="346617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Char char="•"/>
            </a:pPr>
            <a:r>
              <a:rPr lang="en" sz="1537"/>
              <a:t>Develop an alternating optimization (AO) workflow.</a:t>
            </a:r>
            <a:endParaRPr sz="1537"/>
          </a:p>
          <a:p>
            <a:pPr indent="-270921" lvl="0" marL="346617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Char char="•"/>
            </a:pPr>
            <a:r>
              <a:rPr lang="en" sz="1537"/>
              <a:t>Evaluate sum rate, radar SINR, and power consumption.</a:t>
            </a:r>
            <a:endParaRPr sz="1537"/>
          </a:p>
          <a:p>
            <a:pPr indent="-270921" lvl="0" marL="346617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Char char="•"/>
            </a:pPr>
            <a:r>
              <a:rPr lang="en" sz="1537"/>
              <a:t>Verify the implementation using tests and saved simulation results.</a:t>
            </a:r>
            <a:endParaRPr sz="1537"/>
          </a:p>
          <a:p>
            <a:pPr indent="-270921" lvl="0" marL="346617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Char char="•"/>
            </a:pPr>
            <a:r>
              <a:rPr lang="en" sz="1537"/>
              <a:t>Identify gaps that remain before claiming full reproduction.</a:t>
            </a:r>
            <a:endParaRPr sz="1537"/>
          </a:p>
          <a:p>
            <a:pPr indent="0" lvl="0" marL="346617" rtl="0" algn="l">
              <a:lnSpc>
                <a:spcPct val="200000"/>
              </a:lnSpc>
              <a:spcBef>
                <a:spcPts val="758"/>
              </a:spcBef>
              <a:spcAft>
                <a:spcPts val="0"/>
              </a:spcAft>
              <a:buNone/>
            </a:pPr>
            <a:r>
              <a:t/>
            </a:r>
            <a:endParaRPr b="1" sz="834">
              <a:solidFill>
                <a:srgbClr val="000000"/>
              </a:solidFill>
            </a:endParaRPr>
          </a:p>
          <a:p>
            <a:pPr indent="0" lvl="0" marL="346617" rtl="0" algn="l">
              <a:lnSpc>
                <a:spcPct val="200000"/>
              </a:lnSpc>
              <a:spcBef>
                <a:spcPts val="758"/>
              </a:spcBef>
              <a:spcAft>
                <a:spcPts val="0"/>
              </a:spcAft>
              <a:buNone/>
            </a:pPr>
            <a:r>
              <a:t/>
            </a:r>
            <a:endParaRPr sz="144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40"/>
          <p:cNvSpPr txBox="1"/>
          <p:nvPr/>
        </p:nvSpPr>
        <p:spPr>
          <a:xfrm>
            <a:off x="8236294" y="4827569"/>
            <a:ext cx="41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650" lIns="69300" spcFirstLastPara="1" rIns="69300" wrap="square" tIns="34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1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|</a:t>
            </a:r>
            <a:r>
              <a:rPr lang="en" sz="91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</a:t>
            </a:r>
            <a:fld id="{00000000-1234-1234-1234-123412341234}" type="slidenum">
              <a:rPr lang="en" sz="91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910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281494" y="195263"/>
            <a:ext cx="77229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Research Problem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144075" y="1083413"/>
            <a:ext cx="8371500" cy="3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Helvetica Neue"/>
              <a:buChar char="•"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Integrated sensing and communication (ISAC) shares radio resources between user communication and target sensing.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Char char="•"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RSMA separates messages into common and private streams to manage multi-user interference.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Char char="•"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An active RIS can amplify reflected signals, but also consumes power and introduces amplifier noise.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Char char="•"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Imperfect channel state information (CSI) creates uncertainty in both communication and sensing.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Char char="•"/>
            </a:pPr>
            <a:r>
              <a:rPr lang="en" sz="1500">
                <a:latin typeface="Helvetica Neue"/>
                <a:ea typeface="Helvetica Neue"/>
                <a:cs typeface="Helvetica Neue"/>
                <a:sym typeface="Helvetica Neue"/>
              </a:rPr>
              <a:t>The beamforming and RIS-design variables are coupled, making the joint optimization non-convex.</a:t>
            </a:r>
            <a:endParaRPr sz="1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342900" marR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41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436820" y="132671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Base station (BS) transmits common and private communication streams.</a:t>
            </a:r>
            <a:endParaRPr b="1" sz="1500"/>
          </a:p>
          <a:p>
            <a:pPr indent="-2603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Active RIS modifies and amplifies the reflected signal.</a:t>
            </a:r>
            <a:endParaRPr b="1" sz="1500"/>
          </a:p>
          <a:p>
            <a:pPr indent="-2603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Multiple users receive the RSMA streams.</a:t>
            </a:r>
            <a:endParaRPr b="1" sz="1500"/>
          </a:p>
          <a:p>
            <a:pPr indent="-2603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A sensing target reflects the BS signal back toward the sensing receiver.</a:t>
            </a:r>
            <a:endParaRPr b="1" sz="1500"/>
          </a:p>
          <a:p>
            <a:pPr indent="-2603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Channel estimation errors are included in the imperfect-CSI model.</a:t>
            </a:r>
            <a:endParaRPr b="1" sz="1500"/>
          </a:p>
          <a:p>
            <a:pPr indent="-2603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b="1" lang="en" sz="1500"/>
              <a:t>BS power, RIS output power, and RIS amplitude are constrained.</a:t>
            </a:r>
            <a:endParaRPr b="1" sz="1500"/>
          </a:p>
          <a:p>
            <a:pPr indent="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238" name="Google Shape;238;p42"/>
          <p:cNvSpPr txBox="1"/>
          <p:nvPr>
            <p:ph type="title"/>
          </p:nvPr>
        </p:nvSpPr>
        <p:spPr>
          <a:xfrm>
            <a:off x="144077" y="19527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 System model and assumptions </a:t>
            </a:r>
            <a:endParaRPr/>
          </a:p>
        </p:txBody>
      </p:sp>
      <p:sp>
        <p:nvSpPr>
          <p:cNvPr id="239" name="Google Shape;239;p42"/>
          <p:cNvSpPr txBox="1"/>
          <p:nvPr>
            <p:ph idx="12" type="sldNum"/>
          </p:nvPr>
        </p:nvSpPr>
        <p:spPr>
          <a:xfrm>
            <a:off x="8102009" y="4713506"/>
            <a:ext cx="413325" cy="28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445727" y="200025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Research gap and motivation </a:t>
            </a:r>
            <a:endParaRPr/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436820" y="132671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Communication-only beamforming may not meet sensing requirements.</a:t>
            </a:r>
            <a:endParaRPr b="1"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Active RIS amplification improves signal strength but introduces noise and power costs.</a:t>
            </a:r>
            <a:endParaRPr b="1"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RSMA offers additional interference-management flexibility.</a:t>
            </a:r>
            <a:endParaRPr b="1"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Imperfect CSI complicates rate and radar performance evaluation.</a:t>
            </a:r>
            <a:endParaRPr b="1"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"/>
              <a:t>The project focuses on implementing and checking a joint optimization approach.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Research gap: A joint design must balance communication performance, sensing constraints, active-RIS power, and imperfect CSI.</a:t>
            </a:r>
            <a:endParaRPr b="1"/>
          </a:p>
          <a:p>
            <a:pPr indent="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47" name="Google Shape;247;p43"/>
          <p:cNvSpPr txBox="1"/>
          <p:nvPr>
            <p:ph idx="12" type="sldNum"/>
          </p:nvPr>
        </p:nvSpPr>
        <p:spPr>
          <a:xfrm>
            <a:off x="8102009" y="4713506"/>
            <a:ext cx="413325" cy="28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/>
        </p:nvSpPr>
        <p:spPr>
          <a:xfrm>
            <a:off x="144075" y="1102775"/>
            <a:ext cx="66828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25" lIns="74050" spcFirstLastPara="1" rIns="74050" wrap="square" tIns="37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15"/>
              <a:t>Maximize the RSMA sum rate, subject to the system’s sensing and hardware constraints.</a:t>
            </a:r>
            <a:endParaRPr sz="1515"/>
          </a:p>
          <a:p>
            <a:pPr indent="-32478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15"/>
              <a:buChar char="●"/>
            </a:pPr>
            <a:r>
              <a:rPr lang="en" sz="1515"/>
              <a:t>Objective: maximize total achievable communication rate.</a:t>
            </a:r>
            <a:endParaRPr sz="1515"/>
          </a:p>
          <a:p>
            <a:pPr indent="-3247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5"/>
              <a:buChar char="●"/>
            </a:pPr>
            <a:r>
              <a:rPr lang="en" sz="1515"/>
              <a:t>Sensing constraint: radar SINR must exceed its required threshold.</a:t>
            </a:r>
            <a:endParaRPr sz="1515"/>
          </a:p>
          <a:p>
            <a:pPr indent="-3247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5"/>
              <a:buChar char="●"/>
            </a:pPr>
            <a:r>
              <a:rPr lang="en" sz="1515"/>
              <a:t>BS constraint: transmit power must remain within the configured budget.</a:t>
            </a:r>
            <a:endParaRPr sz="1515"/>
          </a:p>
          <a:p>
            <a:pPr indent="-3247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5"/>
              <a:buChar char="●"/>
            </a:pPr>
            <a:r>
              <a:rPr lang="en" sz="1515"/>
              <a:t>RIS constraint: output power must remain within its configured budget.</a:t>
            </a:r>
            <a:endParaRPr sz="1515"/>
          </a:p>
          <a:p>
            <a:pPr indent="-3247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5"/>
              <a:buChar char="●"/>
            </a:pPr>
            <a:r>
              <a:rPr lang="en" sz="1515"/>
              <a:t>Hardware constraint: RIS reflection coefficients must respect their amplitude cap.</a:t>
            </a:r>
            <a:endParaRPr sz="1515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15"/>
              <a:t>Design variables: BS precoders and active-RIS coefficients</a:t>
            </a:r>
            <a:r>
              <a:rPr lang="en" sz="1215"/>
              <a:t>.</a:t>
            </a:r>
            <a:endParaRPr sz="1215"/>
          </a:p>
          <a:p>
            <a:pPr indent="0" lvl="0" marL="1110807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15"/>
          </a:p>
          <a:p>
            <a:pPr indent="0" lvl="0" marL="1110807" rtl="0" algn="l">
              <a:lnSpc>
                <a:spcPct val="17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t/>
            </a:r>
            <a:endParaRPr sz="1215">
              <a:solidFill>
                <a:srgbClr val="000000"/>
              </a:solidFill>
            </a:endParaRPr>
          </a:p>
        </p:txBody>
      </p:sp>
      <p:sp>
        <p:nvSpPr>
          <p:cNvPr id="254" name="Google Shape;254;p44"/>
          <p:cNvSpPr txBox="1"/>
          <p:nvPr/>
        </p:nvSpPr>
        <p:spPr>
          <a:xfrm>
            <a:off x="144086" y="195275"/>
            <a:ext cx="74598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25" lIns="74050" spcFirstLastPara="1" rIns="74050" wrap="square" tIns="37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39">
                <a:latin typeface="Helvetica Neue"/>
                <a:ea typeface="Helvetica Neue"/>
                <a:cs typeface="Helvetica Neue"/>
                <a:sym typeface="Helvetica Neue"/>
              </a:rPr>
              <a:t>Mathematical Formulation</a:t>
            </a:r>
            <a:endParaRPr b="1" sz="3239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44"/>
          <p:cNvSpPr txBox="1"/>
          <p:nvPr/>
        </p:nvSpPr>
        <p:spPr>
          <a:xfrm>
            <a:off x="7727120" y="4644078"/>
            <a:ext cx="3993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025" lIns="74050" spcFirstLastPara="1" rIns="74050" wrap="square" tIns="3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2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|</a:t>
            </a:r>
            <a:r>
              <a:rPr lang="en" sz="972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</a:t>
            </a:r>
            <a:fld id="{00000000-1234-1234-1234-123412341234}" type="slidenum">
              <a:rPr lang="en" sz="972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972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56" name="Google Shape;256;p44"/>
          <p:cNvPicPr preferRelativeResize="0"/>
          <p:nvPr/>
        </p:nvPicPr>
        <p:blipFill rotWithShape="1">
          <a:blip r:embed="rId3">
            <a:alphaModFix/>
          </a:blip>
          <a:srcRect b="0" l="25864" r="28857" t="0"/>
          <a:stretch/>
        </p:blipFill>
        <p:spPr>
          <a:xfrm>
            <a:off x="7058100" y="961650"/>
            <a:ext cx="118602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208869" y="195275"/>
            <a:ext cx="85617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900"/>
              <a:t>Optimization Methodology</a:t>
            </a:r>
            <a:endParaRPr sz="2900"/>
          </a:p>
        </p:txBody>
      </p:sp>
      <p:sp>
        <p:nvSpPr>
          <p:cNvPr id="263" name="Google Shape;263;p45"/>
          <p:cNvSpPr txBox="1"/>
          <p:nvPr>
            <p:ph idx="12" type="sldNum"/>
          </p:nvPr>
        </p:nvSpPr>
        <p:spPr>
          <a:xfrm>
            <a:off x="8102009" y="4713506"/>
            <a:ext cx="413325" cy="28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264" name="Google Shape;264;p45"/>
          <p:cNvSpPr txBox="1"/>
          <p:nvPr/>
        </p:nvSpPr>
        <p:spPr>
          <a:xfrm>
            <a:off x="455063" y="1209816"/>
            <a:ext cx="82338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Initialize channel estimates, BS precoders, and RIS coefficients.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Optimize the BS communication variables while holding the RIS fixed.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the selected semidefinite relaxation (SDR) and convex-concave procedure (CCCP) techniques for the BS subproblem.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Optimize RIS coefficients using successive convex approximation (RIS-SCA).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Recalculate the actual sum rate, radar SINR, and power metrics.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Stop according to the convergence tolerance or iteration limit.</a:t>
            </a:r>
            <a:endParaRPr sz="1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/>
          <p:nvPr>
            <p:ph idx="12" type="sldNum"/>
          </p:nvPr>
        </p:nvSpPr>
        <p:spPr>
          <a:xfrm>
            <a:off x="8102009" y="4713506"/>
            <a:ext cx="413325" cy="28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271" name="Google Shape;271;p46"/>
          <p:cNvSpPr txBox="1"/>
          <p:nvPr/>
        </p:nvSpPr>
        <p:spPr>
          <a:xfrm>
            <a:off x="372825" y="992900"/>
            <a:ext cx="8452200" cy="3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Role of each technique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AO: divides the joint problem into alternating optimization blocks.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SDR: relaxes selected matrix constraints to make a subproblem more tractable.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CCCP: optimizes a sequence of convex surrogate problems for the BS update.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Rank-one recovery: uses Gaussian randomization to obtain candidate precoders.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RIS-SCA: approximates the non-convex RIS update with successive convex subproblems.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Key limitation: These techniques do not automatically guarantee a globally optimal solution. Each approximation and recovered solution still needs feasibility checks.</a:t>
            </a:r>
            <a:endParaRPr sz="1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46"/>
          <p:cNvSpPr txBox="1"/>
          <p:nvPr>
            <p:ph type="title"/>
          </p:nvPr>
        </p:nvSpPr>
        <p:spPr>
          <a:xfrm>
            <a:off x="208869" y="195275"/>
            <a:ext cx="85617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details: AO, SDR, CCCP and RIS-SCA 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291150" y="1868363"/>
            <a:ext cx="85617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Software implementation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900"/>
          </a:p>
        </p:txBody>
      </p:sp>
      <p:sp>
        <p:nvSpPr>
          <p:cNvPr id="279" name="Google Shape;279;p47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280" name="Google Shape;280;p47"/>
          <p:cNvSpPr txBox="1"/>
          <p:nvPr/>
        </p:nvSpPr>
        <p:spPr>
          <a:xfrm>
            <a:off x="291150" y="1404375"/>
            <a:ext cx="88002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Project architecture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config.py</a:t>
            </a:r>
            <a:r>
              <a:rPr lang="en" sz="1500">
                <a:solidFill>
                  <a:schemeClr val="dk1"/>
                </a:solidFill>
              </a:rPr>
              <a:t> — configuration and system parameters.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channel_model.py</a:t>
            </a:r>
            <a:r>
              <a:rPr lang="en" sz="1500">
                <a:solidFill>
                  <a:schemeClr val="dk1"/>
                </a:solidFill>
              </a:rPr>
              <a:t> — channel generation and CSI uncertainty.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model.py</a:t>
            </a:r>
            <a:r>
              <a:rPr lang="en" sz="1500">
                <a:solidFill>
                  <a:schemeClr val="dk1"/>
                </a:solidFill>
              </a:rPr>
              <a:t> — communication model and rate calculations.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radar_model.py</a:t>
            </a:r>
            <a:r>
              <a:rPr lang="en" sz="1500">
                <a:solidFill>
                  <a:schemeClr val="dk1"/>
                </a:solidFill>
              </a:rPr>
              <a:t> — radar SINR evaluation.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optimization/ao.py</a:t>
            </a:r>
            <a:r>
              <a:rPr lang="en" sz="1500">
                <a:solidFill>
                  <a:schemeClr val="dk1"/>
                </a:solidFill>
              </a:rPr>
              <a:t> — alternating optimization and subproblem updates.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Experiment scripts and tests — execution, saved metrics, and basic verification.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212725" y="-182312"/>
            <a:ext cx="85617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Verification and reproducibility </a:t>
            </a:r>
            <a:endParaRPr sz="1900"/>
          </a:p>
        </p:txBody>
      </p:sp>
      <p:sp>
        <p:nvSpPr>
          <p:cNvPr id="287" name="Google Shape;287;p48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288" name="Google Shape;288;p48"/>
          <p:cNvSpPr txBox="1"/>
          <p:nvPr/>
        </p:nvSpPr>
        <p:spPr>
          <a:xfrm>
            <a:off x="348325" y="885274"/>
            <a:ext cx="6923400" cy="4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Verification performed / evidence available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Core model and optimization modules were inspected.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Development notes report 15 passing tests.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limited AO run produced a saved metrics summary.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Saved CCCP and RIS-SCA histories are available.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 random-precoder diagnostic power sweep is available.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Still required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Rerun tests and experiment scripts.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Check the mathematical equations against the foundation paper.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Verify constraints independently from saved solution arrays.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Record solver status, software versions, random seeds, and complete logs.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 txBox="1"/>
          <p:nvPr>
            <p:ph type="title"/>
          </p:nvPr>
        </p:nvSpPr>
        <p:spPr>
          <a:xfrm>
            <a:off x="281494" y="0"/>
            <a:ext cx="8561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Preliminary optimization results </a:t>
            </a:r>
            <a:endParaRPr/>
          </a:p>
        </p:txBody>
      </p:sp>
      <p:sp>
        <p:nvSpPr>
          <p:cNvPr id="295" name="Google Shape;295;p49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296" name="Google Shape;296;p49"/>
          <p:cNvSpPr txBox="1"/>
          <p:nvPr/>
        </p:nvSpPr>
        <p:spPr>
          <a:xfrm>
            <a:off x="501450" y="1329938"/>
            <a:ext cx="46806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97" name="Google Shape;297;p49"/>
          <p:cNvSpPr txBox="1"/>
          <p:nvPr/>
        </p:nvSpPr>
        <p:spPr>
          <a:xfrm>
            <a:off x="440531" y="810338"/>
            <a:ext cx="42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Metrics from the saved AO run </a:t>
            </a:r>
            <a:endParaRPr sz="1500" u="sng">
              <a:solidFill>
                <a:schemeClr val="dk1"/>
              </a:solidFill>
            </a:endParaRPr>
          </a:p>
        </p:txBody>
      </p:sp>
      <p:sp>
        <p:nvSpPr>
          <p:cNvPr id="298" name="Google Shape;298;p49"/>
          <p:cNvSpPr txBox="1"/>
          <p:nvPr/>
        </p:nvSpPr>
        <p:spPr>
          <a:xfrm>
            <a:off x="501443" y="3060000"/>
            <a:ext cx="71739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603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Maximum RIS coefficient magnitude: approximately 5.99997, against a configured cap of 6.</a:t>
            </a:r>
            <a:endParaRPr sz="1500">
              <a:solidFill>
                <a:schemeClr val="dk1"/>
              </a:solidFill>
            </a:endParaRPr>
          </a:p>
          <a:p>
            <a:pPr indent="-2603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</a:rPr>
              <a:t>Saved run status: </a:t>
            </a:r>
            <a:r>
              <a:rPr b="1"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max_iterations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2603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</a:rPr>
              <a:t>Only one outer AO iteration was recorded.</a:t>
            </a:r>
            <a:endParaRPr sz="1500">
              <a:solidFill>
                <a:schemeClr val="dk1"/>
              </a:solidFill>
            </a:endParaRPr>
          </a:p>
          <a:p>
            <a:pPr indent="-2603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" sz="1500">
                <a:solidFill>
                  <a:schemeClr val="dk1"/>
                </a:solidFill>
              </a:rPr>
              <a:t>The reported feasibility flag reflects the code’s checks, not independent verification against the foundation paper.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9" name="Google Shape;299;p49"/>
          <p:cNvPicPr preferRelativeResize="0"/>
          <p:nvPr/>
        </p:nvPicPr>
        <p:blipFill rotWithShape="1">
          <a:blip r:embed="rId3">
            <a:alphaModFix/>
          </a:blip>
          <a:srcRect b="0" l="0" r="10515" t="0"/>
          <a:stretch/>
        </p:blipFill>
        <p:spPr>
          <a:xfrm>
            <a:off x="501450" y="1179650"/>
            <a:ext cx="5114551" cy="17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400" y="537200"/>
            <a:ext cx="6123001" cy="329487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0"/>
          <p:cNvSpPr txBox="1"/>
          <p:nvPr/>
        </p:nvSpPr>
        <p:spPr>
          <a:xfrm>
            <a:off x="3041450" y="3832075"/>
            <a:ext cx="277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one outer AO iteration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/>
          <p:nvPr>
            <p:ph type="title"/>
          </p:nvPr>
        </p:nvSpPr>
        <p:spPr>
          <a:xfrm>
            <a:off x="281494" y="0"/>
            <a:ext cx="8561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Optimization traces </a:t>
            </a:r>
            <a:endParaRPr/>
          </a:p>
        </p:txBody>
      </p:sp>
      <p:sp>
        <p:nvSpPr>
          <p:cNvPr id="312" name="Google Shape;312;p51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pic>
        <p:nvPicPr>
          <p:cNvPr id="313" name="Google Shape;31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5850"/>
            <a:ext cx="8839200" cy="2975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type="title"/>
          </p:nvPr>
        </p:nvSpPr>
        <p:spPr>
          <a:xfrm>
            <a:off x="281494" y="0"/>
            <a:ext cx="8561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Diagnostic baseline: BS power sweep </a:t>
            </a:r>
            <a:endParaRPr/>
          </a:p>
        </p:txBody>
      </p:sp>
      <p:sp>
        <p:nvSpPr>
          <p:cNvPr id="320" name="Google Shape;320;p52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321" name="Google Shape;321;p52"/>
          <p:cNvSpPr txBox="1"/>
          <p:nvPr/>
        </p:nvSpPr>
        <p:spPr>
          <a:xfrm>
            <a:off x="281500" y="784925"/>
            <a:ext cx="37389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Random/fixed precoders were used.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Ten trials were recorded per BS power point.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Mean sum rate rises from approximately 0.207 to 0.306 bit/s/Hz over the 15–35 dBm range.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trial variability is high.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is not an AO-optimized result and must not be presented as a foundation-paper reproduction.</a:t>
            </a:r>
            <a:endParaRPr sz="1500">
              <a:solidFill>
                <a:schemeClr val="dk1"/>
              </a:solidFill>
            </a:endParaRPr>
          </a:p>
          <a:p>
            <a:pPr indent="0" lvl="0" marL="685800" rtl="0" algn="l">
              <a:lnSpc>
                <a:spcPct val="1150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  <p:pic>
        <p:nvPicPr>
          <p:cNvPr id="322" name="Google Shape;32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400" y="1116800"/>
            <a:ext cx="4979550" cy="330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>
            <p:ph type="title"/>
          </p:nvPr>
        </p:nvSpPr>
        <p:spPr>
          <a:xfrm>
            <a:off x="440525" y="0"/>
            <a:ext cx="7886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Evaluation plan </a:t>
            </a:r>
            <a:endParaRPr/>
          </a:p>
        </p:txBody>
      </p:sp>
      <p:sp>
        <p:nvSpPr>
          <p:cNvPr id="329" name="Google Shape;329;p53"/>
          <p:cNvSpPr txBox="1"/>
          <p:nvPr>
            <p:ph idx="1" type="body"/>
          </p:nvPr>
        </p:nvSpPr>
        <p:spPr>
          <a:xfrm>
            <a:off x="440525" y="1094625"/>
            <a:ext cx="7661400" cy="3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Run AO with enough outer iterations to evaluate the stopping condition.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Repeat simulations across multiple channel realizations and seeds.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Record objective, radar SINR, BS power, RIS power, and constraint residuals.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Compare with appropriate optimized baselines, such as passive RIS or no RIS, only after implementing them consistently.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Validate the beampattern and power-sweep calculations against the foundation paper.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Archive solver logs, settings, and output files.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3"/>
          <p:cNvSpPr txBox="1"/>
          <p:nvPr>
            <p:ph idx="12" type="sldNum"/>
          </p:nvPr>
        </p:nvSpPr>
        <p:spPr>
          <a:xfrm>
            <a:off x="8102009" y="4713506"/>
            <a:ext cx="413325" cy="28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291144" y="146775"/>
            <a:ext cx="8561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/>
              <a:t>Limitations and risks </a:t>
            </a:r>
            <a:endParaRPr/>
          </a:p>
        </p:txBody>
      </p:sp>
      <p:sp>
        <p:nvSpPr>
          <p:cNvPr id="337" name="Google Shape;337;p54"/>
          <p:cNvSpPr txBox="1"/>
          <p:nvPr>
            <p:ph idx="12" type="sldNum"/>
          </p:nvPr>
        </p:nvSpPr>
        <p:spPr>
          <a:xfrm>
            <a:off x="8102009" y="4713506"/>
            <a:ext cx="413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  <p:sp>
        <p:nvSpPr>
          <p:cNvPr id="338" name="Google Shape;338;p54"/>
          <p:cNvSpPr txBox="1"/>
          <p:nvPr/>
        </p:nvSpPr>
        <p:spPr>
          <a:xfrm>
            <a:off x="291150" y="1078650"/>
            <a:ext cx="8352300" cy="4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1. Limited AO convergence evidence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Saved run stopped at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max_iterations</a:t>
            </a:r>
            <a:r>
              <a:rPr lang="en" sz="1200">
                <a:solidFill>
                  <a:schemeClr val="dk1"/>
                </a:solidFill>
              </a:rPr>
              <a:t> after one outer AO iteration; convergence is not established.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2. Constraint validation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Independently recompute BS power, RIS output power, and RIS amplitude limits from saved optimization variables.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3. Baseline comparison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Current BS power sweep uses random/fixed precoders; optimized AO performance has not yet been compared under the same conditions.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4. Reference-result validation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Quantitatively compare the implementation with the foundation paper's reported results using matching simulation parameters and assumptions.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5"/>
          <p:cNvSpPr txBox="1"/>
          <p:nvPr>
            <p:ph type="title"/>
          </p:nvPr>
        </p:nvSpPr>
        <p:spPr>
          <a:xfrm>
            <a:off x="445727" y="200025"/>
            <a:ext cx="7886700" cy="994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344" name="Google Shape;344;p55"/>
          <p:cNvSpPr txBox="1"/>
          <p:nvPr>
            <p:ph idx="1" type="body"/>
          </p:nvPr>
        </p:nvSpPr>
        <p:spPr>
          <a:xfrm>
            <a:off x="436825" y="1326724"/>
            <a:ext cx="7886700" cy="29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1. Parihar, A. S., Chen, C.-H., &amp; Li, C.-P. (2026). Beamforming design for enhanced sum rate in active RIS-RSMA-assisted ISAC systems under imperfect CSIT/CSIR. IEEE Transactions on Vehicular Technology, 75(6), 10918–10932.</a:t>
            </a:r>
            <a:r>
              <a:rPr lang="en" sz="13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https://doi.org/10.1109/TVT.2025.3648447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2. Niu, H., Lin, Z., An, K., Wang, J., Zheng, G., Al-Dhahir, N., &amp; Wong, K.-K. (2023). Active RIS assisted rate-splitting multiple access network: Spectral and energy efficiency tradeoff. IEEE Journal on Selected Areas in Communications, 41(5), 1452–1467.</a:t>
            </a:r>
            <a:r>
              <a:rPr lang="en" sz="13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https://doi.org/10.1109/JSAC.2023.3240718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3. Ye, J., Rihan, M., Zhang, P., Huang, L., Buzzi, S., &amp; Chen, Z. (2025). Energy efficiency optimization in active reconfigurable intelligent surface-aided integrated sensing and communication systems. IEEE Transactions on Vehicular Technology, 74(1), 1180–1195.</a:t>
            </a:r>
            <a:r>
              <a:rPr lang="en" sz="13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https://doi.org/10.1109/TVT.2024.3465897</a:t>
            </a:r>
            <a:endParaRPr sz="13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4. Truong, T. P., Nguyen, T. M. T., Nguyen, T. V., Dao, N. N., &amp; Cho, S. (2025). Energy efficiency in RSMA-enhanced active RIS-aided quantized downlink systems. IEEE Journal on Selected Areas in Communications, 43(3), 834–850.</a:t>
            </a:r>
            <a:r>
              <a:rPr lang="en" sz="13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/>
              </a:rPr>
              <a:t> </a:t>
            </a: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https://doi.org/10.1109/JSAC.2025.3531522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6"/>
          <p:cNvSpPr txBox="1"/>
          <p:nvPr>
            <p:ph type="title"/>
          </p:nvPr>
        </p:nvSpPr>
        <p:spPr>
          <a:xfrm>
            <a:off x="628650" y="1839825"/>
            <a:ext cx="7886700" cy="116077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7500">
                <a:solidFill>
                  <a:schemeClr val="dk2"/>
                </a:solidFill>
              </a:rPr>
              <a:t>    THANK YOU !</a:t>
            </a:r>
            <a:endParaRPr sz="7500">
              <a:solidFill>
                <a:schemeClr val="dk2"/>
              </a:solidFill>
            </a:endParaRPr>
          </a:p>
        </p:txBody>
      </p:sp>
      <p:sp>
        <p:nvSpPr>
          <p:cNvPr id="351" name="Google Shape;351;p56"/>
          <p:cNvSpPr txBox="1"/>
          <p:nvPr>
            <p:ph idx="12" type="sldNum"/>
          </p:nvPr>
        </p:nvSpPr>
        <p:spPr>
          <a:xfrm>
            <a:off x="8102009" y="4713506"/>
            <a:ext cx="413325" cy="28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|</a:t>
            </a:r>
            <a:r>
              <a:rPr b="0" lang="en"/>
              <a:t>  </a:t>
            </a:r>
            <a:fld id="{00000000-1234-1234-1234-123412341234}" type="slidenum">
              <a:rPr b="0" lang="en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